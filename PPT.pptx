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75" r:id="rId2"/>
    <p:sldId id="305" r:id="rId3"/>
    <p:sldId id="408" r:id="rId4"/>
    <p:sldId id="407" r:id="rId5"/>
    <p:sldId id="409" r:id="rId6"/>
    <p:sldId id="412" r:id="rId7"/>
    <p:sldId id="413" r:id="rId8"/>
    <p:sldId id="410" r:id="rId9"/>
    <p:sldId id="411" r:id="rId10"/>
    <p:sldId id="298" r:id="rId11"/>
    <p:sldId id="41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9225" autoAdjust="0"/>
  </p:normalViewPr>
  <p:slideViewPr>
    <p:cSldViewPr snapToGrid="0" snapToObjects="1">
      <p:cViewPr>
        <p:scale>
          <a:sx n="85" d="100"/>
          <a:sy n="85" d="100"/>
        </p:scale>
        <p:origin x="590" y="62"/>
      </p:cViewPr>
      <p:guideLst/>
    </p:cSldViewPr>
  </p:slideViewPr>
  <p:outlineViewPr>
    <p:cViewPr>
      <p:scale>
        <a:sx n="33" d="100"/>
        <a:sy n="33" d="100"/>
      </p:scale>
      <p:origin x="0" y="-44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26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17359-000A-9044-B834-9FBD0018D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B882-BA21-D947-B59A-B375F7B018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73F5E-F60B-3D42-A6DD-6D5611C2F6EE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AD5B-1A75-1A4A-8459-A96AB79E9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6818-84EB-2D43-AA44-FC64C4595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A1AC-D174-D44D-BB31-612041F19A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70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F98BD-1379-4672-BB56-D1C1DBC1B68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F6451-2013-49C1-B391-BE4333054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59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F6451-2013-49C1-B391-BE43330545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0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F6451-2013-49C1-B391-BE43330545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59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46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A90A1-A930-7E45-A0C6-7B528BC17B68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3055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0" y="1720312"/>
            <a:ext cx="6093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FF4E3-951F-F040-800F-0DDAC2CCC507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2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9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1521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011522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21F7CE-A4E6-574A-B490-8FC4327728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51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5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1DF7114-976E-3345-A7C4-77F951EA42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6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CCA2E80D-B045-2346-9C1F-70BFBD4AF7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B4699-8C04-D74B-BFAF-27221E81DEBB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5342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328B3-338C-BB43-A9F5-AACCE2E54E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69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8264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4498670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1928264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27254B-5501-7248-A89F-42912B5A8BD2}"/>
              </a:ext>
            </a:extLst>
          </p:cNvPr>
          <p:cNvCxnSpPr>
            <a:cxnSpLocks/>
          </p:cNvCxnSpPr>
          <p:nvPr userDrawn="1"/>
        </p:nvCxnSpPr>
        <p:spPr>
          <a:xfrm>
            <a:off x="0" y="1405468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05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487" y="0"/>
            <a:ext cx="1106751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487" y="-1"/>
            <a:ext cx="11067514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B436F-A511-A141-900B-BA20A19A1BCE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08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7CAA2-2658-B441-A787-4B54C65D3BF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38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5662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6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8C2B99-ED08-1F48-BE5D-40E40D09C7B7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7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843" y="3482977"/>
            <a:ext cx="10961177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B33817-49F3-B440-A271-466603AE1964}"/>
              </a:ext>
            </a:extLst>
          </p:cNvPr>
          <p:cNvCxnSpPr>
            <a:cxnSpLocks/>
          </p:cNvCxnSpPr>
          <p:nvPr userDrawn="1"/>
        </p:nvCxnSpPr>
        <p:spPr>
          <a:xfrm>
            <a:off x="0" y="421214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76316B-7498-2E42-9B52-88BF1C9DF4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67465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775DA-49A0-2F4D-9F21-5D20DA6B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844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56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0F668-C1BA-A349-A542-9E54E73E8178}"/>
              </a:ext>
            </a:extLst>
          </p:cNvPr>
          <p:cNvCxnSpPr>
            <a:cxnSpLocks/>
          </p:cNvCxnSpPr>
          <p:nvPr userDrawn="1"/>
        </p:nvCxnSpPr>
        <p:spPr>
          <a:xfrm>
            <a:off x="4961621" y="339644"/>
            <a:ext cx="0" cy="28065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339644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26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14763-7D4F-994A-AAA9-7DC46C19D816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06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7321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96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2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7963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737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65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4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3265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8CCA37-00BD-0A43-8647-67DD0510A7E3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96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16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5233AE2-5078-C34D-8EAD-6F7B344F5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99EEF-FB75-1A46-B6B6-39CCF65A9EA4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69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588936"/>
            <a:ext cx="11432584" cy="5976637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1291C-383F-CF4B-AB8E-2B40741A62AF}"/>
              </a:ext>
            </a:extLst>
          </p:cNvPr>
          <p:cNvCxnSpPr>
            <a:cxnSpLocks/>
          </p:cNvCxnSpPr>
          <p:nvPr userDrawn="1"/>
        </p:nvCxnSpPr>
        <p:spPr>
          <a:xfrm>
            <a:off x="0" y="2924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4C5937-11C0-4E5A-867C-7AB68EA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957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292426"/>
            <a:ext cx="10219457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16C013-C8E5-B44C-B6D6-DE71D0CC52C4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E2D069-321B-434C-BB63-530EE51B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18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15B-CCA3-7142-BDAA-6DAC63FB634C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040D77-4CF4-4BFB-9FFB-8C9746D3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264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34E77-65E8-214A-93DD-907ECB950F42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C15D6B-DF62-4A31-87F3-2084A6C5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893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3359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57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1877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8797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037ED-B73E-2946-8FAC-2803EA71C585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67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319" y="1"/>
            <a:ext cx="1105768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94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2000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E9592-D634-1947-B3FB-EB3B7F16FF28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D456EAF-F3B8-AF4A-90FF-4B0693C56A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7FB4ADF-1B3E-A442-B2C9-518CBE763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96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6059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3354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3355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4094-208E-7E4A-848A-F76A1573073A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550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4418889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5080791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71BC7-72EE-294C-9A39-61A77EE295A0}"/>
              </a:ext>
            </a:extLst>
          </p:cNvPr>
          <p:cNvCxnSpPr>
            <a:cxnSpLocks/>
          </p:cNvCxnSpPr>
          <p:nvPr userDrawn="1"/>
        </p:nvCxnSpPr>
        <p:spPr>
          <a:xfrm>
            <a:off x="392623" y="5080791"/>
            <a:ext cx="460968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7384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9061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F4417F7-7CDE-DF44-9B0E-AC44EE99B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429000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4090902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F22032-BAB9-744C-B14E-54350BBD1C7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380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39645"/>
            <a:ext cx="1021945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noProof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2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5605550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8305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561099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8305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561099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8305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2257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22570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2257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22570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257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22570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044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500441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0044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6500441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0044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500441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A232C0-1AC5-164D-B8B6-CC8F07CF2E21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307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3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3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3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472581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472581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472581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0267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D2B2CC15-A5D6-7646-B184-255F86FB708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681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76CA39F-4826-EC4A-B911-A0B38E48926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974810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2038081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AF7CBB0-F32C-B84C-AEEA-FA0944BBB865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8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02FA6-24E0-3C4A-8B7A-F529DB12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45A71-C369-2A42-A14F-2BD1985F7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798-FB93-8742-9A92-FA7A241A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56824-A55C-4F44-B9CB-109B027241D7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A715-D537-DD4B-8BE6-1E573155F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735-B191-784C-98F7-65384DAC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627B-E4D5-2947-8E88-B84039729B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3" r:id="rId2"/>
    <p:sldLayoutId id="2147483670" r:id="rId3"/>
    <p:sldLayoutId id="2147483674" r:id="rId4"/>
    <p:sldLayoutId id="2147483661" r:id="rId5"/>
    <p:sldLayoutId id="2147483676" r:id="rId6"/>
    <p:sldLayoutId id="2147483675" r:id="rId7"/>
    <p:sldLayoutId id="2147483677" r:id="rId8"/>
    <p:sldLayoutId id="2147483678" r:id="rId9"/>
    <p:sldLayoutId id="2147483679" r:id="rId10"/>
    <p:sldLayoutId id="2147483681" r:id="rId11"/>
    <p:sldLayoutId id="2147483682" r:id="rId12"/>
    <p:sldLayoutId id="2147483686" r:id="rId13"/>
    <p:sldLayoutId id="2147483683" r:id="rId14"/>
    <p:sldLayoutId id="2147483685" r:id="rId15"/>
    <p:sldLayoutId id="2147483684" r:id="rId16"/>
    <p:sldLayoutId id="2147483680" r:id="rId17"/>
    <p:sldLayoutId id="2147483691" r:id="rId18"/>
    <p:sldLayoutId id="2147483692" r:id="rId19"/>
    <p:sldLayoutId id="2147483693" r:id="rId20"/>
    <p:sldLayoutId id="2147483694" r:id="rId21"/>
    <p:sldLayoutId id="2147483688" r:id="rId22"/>
    <p:sldLayoutId id="2147483687" r:id="rId23"/>
    <p:sldLayoutId id="2147483689" r:id="rId24"/>
    <p:sldLayoutId id="2147483690" r:id="rId25"/>
    <p:sldLayoutId id="2147483695" r:id="rId26"/>
    <p:sldLayoutId id="2147483696" r:id="rId27"/>
    <p:sldLayoutId id="2147483697" r:id="rId28"/>
    <p:sldLayoutId id="2147483698" r:id="rId29"/>
    <p:sldLayoutId id="2147483703" r:id="rId30"/>
    <p:sldLayoutId id="2147483704" r:id="rId31"/>
    <p:sldLayoutId id="2147483705" r:id="rId32"/>
    <p:sldLayoutId id="2147483706" r:id="rId33"/>
    <p:sldLayoutId id="2147483700" r:id="rId34"/>
    <p:sldLayoutId id="2147483699" r:id="rId35"/>
    <p:sldLayoutId id="2147483701" r:id="rId36"/>
    <p:sldLayoutId id="2147483702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21" descr="Woman on tablet ">
            <a:extLst>
              <a:ext uri="{FF2B5EF4-FFF2-40B4-BE49-F238E27FC236}">
                <a16:creationId xmlns:a16="http://schemas.microsoft.com/office/drawing/2014/main" id="{DB20DB88-CBCC-9A4A-BA0A-4807E1B8E8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32" r="4632"/>
          <a:stretch/>
        </p:blipFill>
        <p:spPr>
          <a:xfrm>
            <a:off x="1134319" y="0"/>
            <a:ext cx="11057681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6"/>
            <a:ext cx="4179375" cy="3564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Presented by Gideon Dennis Shanthi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1990"/>
            <a:ext cx="8137585" cy="2387600"/>
          </a:xfrm>
        </p:spPr>
        <p:txBody>
          <a:bodyPr>
            <a:normAutofit/>
          </a:bodyPr>
          <a:lstStyle/>
          <a:p>
            <a:r>
              <a:rPr lang="en-US" dirty="0"/>
              <a:t>Business Intelligence Analysis on streaming platforms</a:t>
            </a:r>
          </a:p>
        </p:txBody>
      </p:sp>
    </p:spTree>
    <p:extLst>
      <p:ext uri="{BB962C8B-B14F-4D97-AF65-F5344CB8AC3E}">
        <p14:creationId xmlns:p14="http://schemas.microsoft.com/office/powerpoint/2010/main" val="42858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B178B4-CDED-454C-BED2-2E2B10ADA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592" y="124492"/>
            <a:ext cx="10134369" cy="1002552"/>
          </a:xfrm>
        </p:spPr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E9E228-B02C-3941-B458-23CB2D67B4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Industry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Platform analysis(Prime Video)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Key Insights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Strategic recommendation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Expected impact</a:t>
            </a:r>
          </a:p>
        </p:txBody>
      </p:sp>
    </p:spTree>
    <p:extLst>
      <p:ext uri="{BB962C8B-B14F-4D97-AF65-F5344CB8AC3E}">
        <p14:creationId xmlns:p14="http://schemas.microsoft.com/office/powerpoint/2010/main" val="262529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B178B4-CDED-454C-BED2-2E2B10ADA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4408" y="214515"/>
            <a:ext cx="10134369" cy="1002552"/>
          </a:xfrm>
        </p:spPr>
        <p:txBody>
          <a:bodyPr/>
          <a:lstStyle/>
          <a:p>
            <a:pPr algn="ctr"/>
            <a:r>
              <a:rPr lang="en-US" dirty="0"/>
              <a:t>Industry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9F0E5-2DA5-DD52-1AD2-EE33FB5870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10"/>
          <a:stretch/>
        </p:blipFill>
        <p:spPr>
          <a:xfrm>
            <a:off x="1902026" y="1355926"/>
            <a:ext cx="8311649" cy="394635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56D985E-1CEC-50AE-0B74-40FBBE59FE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4796" y="5302284"/>
            <a:ext cx="10327907" cy="134120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Insight</a:t>
            </a:r>
            <a:r>
              <a:rPr lang="en-US" sz="1600" b="1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Drama films and reality TV make up the vast majority of content on Prime Video, Netflix, and Hulu, acting as the core anchors for watch-time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Prime Video and Netflix compete as massive aggregators based on sheer volume, while Hulu and Disney+ rely on much smaller, curated libraries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6346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E9E228-B02C-3941-B458-23CB2D67B4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92370" y="1263825"/>
            <a:ext cx="8897724" cy="2180764"/>
          </a:xfrm>
        </p:spPr>
        <p:txBody>
          <a:bodyPr>
            <a:normAutofit/>
          </a:bodyPr>
          <a:lstStyle/>
          <a:p>
            <a:r>
              <a:rPr lang="en-US" sz="1800" dirty="0"/>
              <a:t>1. Competitive Rivalry - High</a:t>
            </a:r>
          </a:p>
          <a:p>
            <a:r>
              <a:rPr lang="en-US" sz="1800" dirty="0"/>
              <a:t>2. Threat of New Entrants - High</a:t>
            </a:r>
          </a:p>
          <a:p>
            <a:r>
              <a:rPr lang="en-US" sz="1800" dirty="0"/>
              <a:t>3. Bargaining Power of Buyers - High</a:t>
            </a:r>
          </a:p>
          <a:p>
            <a:r>
              <a:rPr lang="en-US" sz="1800" dirty="0"/>
              <a:t>4. Bargaining Power of Suppliers - High</a:t>
            </a:r>
          </a:p>
          <a:p>
            <a:r>
              <a:rPr lang="en-US" sz="1800" dirty="0"/>
              <a:t>5. Threat of Substitutes - High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7C41A60-17AB-220D-4C6E-7D5DC8AD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5616" y="29460"/>
            <a:ext cx="10134369" cy="1002552"/>
          </a:xfrm>
        </p:spPr>
        <p:txBody>
          <a:bodyPr/>
          <a:lstStyle/>
          <a:p>
            <a:pPr algn="ctr"/>
            <a:r>
              <a:rPr lang="en-US" dirty="0"/>
              <a:t>Industry Overview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0D2DD28-3BEC-0D85-64C7-D0147051E18E}"/>
              </a:ext>
            </a:extLst>
          </p:cNvPr>
          <p:cNvSpPr txBox="1">
            <a:spLocks/>
          </p:cNvSpPr>
          <p:nvPr/>
        </p:nvSpPr>
        <p:spPr>
          <a:xfrm>
            <a:off x="5060831" y="1109283"/>
            <a:ext cx="6834995" cy="533464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7687A5E-5AE2-34A0-AE03-850713271039}"/>
              </a:ext>
            </a:extLst>
          </p:cNvPr>
          <p:cNvSpPr txBox="1">
            <a:spLocks/>
          </p:cNvSpPr>
          <p:nvPr/>
        </p:nvSpPr>
        <p:spPr>
          <a:xfrm>
            <a:off x="1492370" y="4254007"/>
            <a:ext cx="10403456" cy="284671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Conclusion: </a:t>
            </a:r>
          </a:p>
          <a:p>
            <a:r>
              <a:rPr lang="en-US" sz="1800" dirty="0"/>
              <a:t>To survive the high buyer power and intense rivalry, platforms cannot just rely on older back-catalogs. They must find a strategic balance between content volume and critical quality</a:t>
            </a:r>
          </a:p>
        </p:txBody>
      </p:sp>
    </p:spTree>
    <p:extLst>
      <p:ext uri="{BB962C8B-B14F-4D97-AF65-F5344CB8AC3E}">
        <p14:creationId xmlns:p14="http://schemas.microsoft.com/office/powerpoint/2010/main" val="290652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F70A-2255-4E93-384A-81266366D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784" y="106939"/>
            <a:ext cx="10716884" cy="1002552"/>
          </a:xfrm>
        </p:spPr>
        <p:txBody>
          <a:bodyPr/>
          <a:lstStyle/>
          <a:p>
            <a:r>
              <a:rPr lang="en-US" dirty="0"/>
              <a:t>Platform analysis (Prime Video)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2EE8C-C7FB-5C2A-A1A4-8D5708DB84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4796" y="5515803"/>
            <a:ext cx="9769641" cy="1127682"/>
          </a:xfrm>
        </p:spPr>
        <p:txBody>
          <a:bodyPr/>
          <a:lstStyle/>
          <a:p>
            <a:r>
              <a:rPr lang="en-US" b="1" dirty="0"/>
              <a:t>Insight</a:t>
            </a:r>
            <a:r>
              <a:rPr lang="en-US" sz="1600" b="1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Prime Video's massive scale compared to the other platforms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Although, it has more movies than TV shows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16819-BC8A-6281-8CAC-A03A8E9F1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07" y="1342197"/>
            <a:ext cx="10558913" cy="41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F70A-2255-4E93-384A-81266366D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785" y="89482"/>
            <a:ext cx="10716884" cy="1002552"/>
          </a:xfrm>
        </p:spPr>
        <p:txBody>
          <a:bodyPr/>
          <a:lstStyle/>
          <a:p>
            <a:r>
              <a:rPr lang="en-US" dirty="0"/>
              <a:t>Platform analysis (Prime Video)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CE3BE-2D71-4CE7-F92B-37D06F306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5"/>
          <a:stretch/>
        </p:blipFill>
        <p:spPr>
          <a:xfrm>
            <a:off x="1289785" y="1325110"/>
            <a:ext cx="10289406" cy="3372018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D7BEFF-D8B4-0485-6766-419E178D07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53415" y="4805169"/>
            <a:ext cx="10356783" cy="1980641"/>
          </a:xfrm>
        </p:spPr>
        <p:txBody>
          <a:bodyPr>
            <a:normAutofit/>
          </a:bodyPr>
          <a:lstStyle/>
          <a:p>
            <a:r>
              <a:rPr lang="en-US" b="1" dirty="0"/>
              <a:t>Insight</a:t>
            </a:r>
            <a:r>
              <a:rPr lang="en-US" sz="1600" b="1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Prime Video has aggressively targeted the adult demographic, showing a massive, exponential surge in 18+ content over the last decade that completely dwarfs the mature libraries of Netflix, Hulu, and Disney+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 can see the family content has less rating comparatively, almost most family content(around 450) have score below 10, out of 100</a:t>
            </a:r>
          </a:p>
        </p:txBody>
      </p:sp>
    </p:spTree>
    <p:extLst>
      <p:ext uri="{BB962C8B-B14F-4D97-AF65-F5344CB8AC3E}">
        <p14:creationId xmlns:p14="http://schemas.microsoft.com/office/powerpoint/2010/main" val="292939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F70A-2255-4E93-384A-81266366D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784" y="71553"/>
            <a:ext cx="10716884" cy="1002552"/>
          </a:xfrm>
        </p:spPr>
        <p:txBody>
          <a:bodyPr/>
          <a:lstStyle/>
          <a:p>
            <a:r>
              <a:rPr lang="en-US" dirty="0"/>
              <a:t>Platform analysis (Prime Video)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D7BEFF-D8B4-0485-6766-419E178D07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53415" y="4805169"/>
            <a:ext cx="10356783" cy="1980641"/>
          </a:xfrm>
        </p:spPr>
        <p:txBody>
          <a:bodyPr>
            <a:normAutofit/>
          </a:bodyPr>
          <a:lstStyle/>
          <a:p>
            <a:r>
              <a:rPr lang="en-US" b="1" dirty="0"/>
              <a:t>Insight</a:t>
            </a:r>
            <a:r>
              <a:rPr lang="en-US" sz="1600" b="1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Prime Video acts as a "catch-all" aggregator, dominating 18+ content while still serving all other age groups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Over the years, we can see the 18+ movies have raised exponential level reaching 200+ movie releases in 2018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But, family oriented movies, have seen a steady growth throughout the years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10B913-E60B-FF6D-81D2-E442297964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20"/>
          <a:stretch/>
        </p:blipFill>
        <p:spPr>
          <a:xfrm>
            <a:off x="1771048" y="1217067"/>
            <a:ext cx="8529399" cy="345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6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F70A-2255-4E93-384A-81266366D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784" y="214516"/>
            <a:ext cx="10716884" cy="1002552"/>
          </a:xfrm>
        </p:spPr>
        <p:txBody>
          <a:bodyPr/>
          <a:lstStyle/>
          <a:p>
            <a:r>
              <a:rPr lang="en-US" dirty="0"/>
              <a:t>Platform analysis (Prime Video)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2EE8C-C7FB-5C2A-A1A4-8D5708DB84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2712" y="4677878"/>
            <a:ext cx="9368589" cy="2835167"/>
          </a:xfrm>
        </p:spPr>
        <p:txBody>
          <a:bodyPr>
            <a:normAutofit/>
          </a:bodyPr>
          <a:lstStyle/>
          <a:p>
            <a:r>
              <a:rPr lang="en-US" b="1" dirty="0"/>
              <a:t>Strengths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Prime Video boasts the highest total volume of content, dominating the market with over 4,000 movies and nearly 2,000 TV shows</a:t>
            </a:r>
          </a:p>
          <a:p>
            <a:r>
              <a:rPr lang="en-US" b="1" dirty="0"/>
              <a:t>Weaknesses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Prime Video has the lowest median Rotten Tomatoes score (~47) among its peers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roughly 2:1 ratio of movies to TV shows may make week-to-week subscriber retention difficult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64DE30-CBFD-BFD4-5FAB-4223667E4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03" y="1217069"/>
            <a:ext cx="8604985" cy="346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8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F70A-2255-4E93-384A-81266366D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177" y="-72355"/>
            <a:ext cx="10716884" cy="1002552"/>
          </a:xfrm>
        </p:spPr>
        <p:txBody>
          <a:bodyPr/>
          <a:lstStyle/>
          <a:p>
            <a:r>
              <a:rPr lang="en-US" dirty="0"/>
              <a:t>Platform analysis (Prime Video)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2EE8C-C7FB-5C2A-A1A4-8D5708DB84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91916" y="4697128"/>
            <a:ext cx="10289406" cy="2160872"/>
          </a:xfrm>
        </p:spPr>
        <p:txBody>
          <a:bodyPr>
            <a:normAutofit/>
          </a:bodyPr>
          <a:lstStyle/>
          <a:p>
            <a:r>
              <a:rPr lang="en-US" b="1" dirty="0"/>
              <a:t>Opportunities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With such a massive library, better UI curation could help surface high-quality hidden gems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Reality television makes up over 30% of its top genres; leaning into this format could drive high engagement</a:t>
            </a:r>
          </a:p>
          <a:p>
            <a:r>
              <a:rPr lang="en-US" b="1" dirty="0"/>
              <a:t>Threats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Competitors with higher average critical acclaim (like Hulu and Disney+) threaten to pull away viewers who prefer curated, high-quality viewing over endless scrolling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16F5A-72CF-DCE2-E7BC-346D52B70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301" y="1111191"/>
            <a:ext cx="8691613" cy="358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7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93AABDC-C3FD-F345-990B-6E2D88310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Strategic Recommendations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0150DF7-4A8B-444C-8CA1-24A9B9191B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0" y="1468739"/>
            <a:ext cx="9740115" cy="4200541"/>
          </a:xfrm>
        </p:spPr>
        <p:txBody>
          <a:bodyPr>
            <a:normAutofit fontScale="70000" lnSpcReduction="20000"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b="0" dirty="0">
                <a:latin typeface="+mj-lt"/>
              </a:rPr>
              <a:t>Continue leveraging massive content volume as a primary competitive moat, ensuring users never feel the need to look elsewhere for sheer variety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US" b="0" dirty="0">
              <a:latin typeface="+mj-lt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b="0" dirty="0">
                <a:latin typeface="+mj-lt"/>
              </a:rPr>
              <a:t>Implement advanced, personalized recommendation engines to cure user "choice paralysis" and surface hidden gems from the massive catalog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US" b="0" dirty="0">
              <a:latin typeface="+mj-lt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b="0" dirty="0">
                <a:latin typeface="+mj-lt"/>
              </a:rPr>
              <a:t>Shift a portion of the budget toward high-quality, episodic original series to drive weekly cultural conversations and improve average critical reception</a:t>
            </a:r>
          </a:p>
          <a:p>
            <a:pPr lvl="0"/>
            <a:endParaRPr lang="en-US" b="0" dirty="0">
              <a:latin typeface="+mj-lt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b="0" dirty="0">
                <a:latin typeface="+mj-lt"/>
              </a:rPr>
              <a:t>Expand investment in unscripted and reality television, which the data shows is a top-performing, highly engaging, and cost-effective genre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US" b="0" dirty="0">
              <a:latin typeface="+mj-lt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b="0" dirty="0">
                <a:latin typeface="+mj-lt"/>
              </a:rPr>
              <a:t>Deeper integration of Prime Video with the broader Amazon retail ecosystem (e.g., shopping tie-ins, exclusive Prime perks) to maximize overall subscriber lifetime value</a:t>
            </a:r>
          </a:p>
        </p:txBody>
      </p:sp>
    </p:spTree>
    <p:extLst>
      <p:ext uri="{BB962C8B-B14F-4D97-AF65-F5344CB8AC3E}">
        <p14:creationId xmlns:p14="http://schemas.microsoft.com/office/powerpoint/2010/main" val="3843284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93AABDC-C3FD-F345-990B-6E2D88310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Expected Impact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0150DF7-4A8B-444C-8CA1-24A9B9191B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0" y="1468739"/>
            <a:ext cx="9740115" cy="457347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0" dirty="0">
                <a:latin typeface="+mj-lt"/>
              </a:rPr>
              <a:t>Balancing the massive movie library with more episodic TV shows will reduce churn and keep users subscribed month-to-month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800" b="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0" dirty="0">
                <a:latin typeface="+mj-lt"/>
              </a:rPr>
              <a:t>Improving discoverability and UI curation will reduce scrolling time and increase the average daily watch-time per user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800" b="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0" dirty="0">
                <a:latin typeface="+mj-lt"/>
              </a:rPr>
              <a:t>Investing in prestige originals will shift Prime Video's reputation from just a "catch-all volume library" to a premium, award-winning entertainment destination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800" b="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0" dirty="0">
                <a:latin typeface="+mj-lt"/>
              </a:rPr>
              <a:t>Continuing to scale youth content alongside its massive 18+ library will solidify its position as the ultimate household-shared platform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800" b="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0" dirty="0">
                <a:latin typeface="+mj-lt"/>
              </a:rPr>
              <a:t>Higher engagement on Prime Video directly correlates to higher retention for the overarching Amazon Prime subscription, driving broader retail and ecosystem success</a:t>
            </a:r>
          </a:p>
        </p:txBody>
      </p:sp>
    </p:spTree>
    <p:extLst>
      <p:ext uri="{BB962C8B-B14F-4D97-AF65-F5344CB8AC3E}">
        <p14:creationId xmlns:p14="http://schemas.microsoft.com/office/powerpoint/2010/main" val="2633405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ol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15D1BB"/>
      </a:accent1>
      <a:accent2>
        <a:srgbClr val="0FB4DB"/>
      </a:accent2>
      <a:accent3>
        <a:srgbClr val="0D81BB"/>
      </a:accent3>
      <a:accent4>
        <a:srgbClr val="045FC4"/>
      </a:accent4>
      <a:accent5>
        <a:srgbClr val="953FF3"/>
      </a:accent5>
      <a:accent6>
        <a:srgbClr val="C03EF4"/>
      </a:accent6>
      <a:hlink>
        <a:srgbClr val="8F8F8F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our Title goes Here" id="{216E2A47-1B33-481B-B469-F891BA0BB112}" vid="{A834A686-415F-444B-99EF-70560C1C6F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Modern clean sophisticated presentation</Template>
  <TotalTime>2965</TotalTime>
  <Words>671</Words>
  <Application>Microsoft Office PowerPoint</Application>
  <PresentationFormat>Widescreen</PresentationFormat>
  <Paragraphs>67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Sagona ExtraLight</vt:lpstr>
      <vt:lpstr>Speak Pro</vt:lpstr>
      <vt:lpstr>Wingdings</vt:lpstr>
      <vt:lpstr>Office Theme</vt:lpstr>
      <vt:lpstr>Business Intelligence Analysis on streaming platforms</vt:lpstr>
      <vt:lpstr>agenda</vt:lpstr>
      <vt:lpstr>Industry Overview</vt:lpstr>
      <vt:lpstr>Industry Overview</vt:lpstr>
      <vt:lpstr>Platform analysis (Prime Video)</vt:lpstr>
      <vt:lpstr>Platform analysis (Prime Video)</vt:lpstr>
      <vt:lpstr>Platform analysis (Prime Video)</vt:lpstr>
      <vt:lpstr>Platform analysis (Prime Video)</vt:lpstr>
      <vt:lpstr>Platform analysis (Prime Video)</vt:lpstr>
      <vt:lpstr>Strategic Recommendations</vt:lpstr>
      <vt:lpstr>Expected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Gideon DS</dc:creator>
  <cp:lastModifiedBy>Gideon DS</cp:lastModifiedBy>
  <cp:revision>3</cp:revision>
  <dcterms:created xsi:type="dcterms:W3CDTF">2026-03-23T20:08:09Z</dcterms:created>
  <dcterms:modified xsi:type="dcterms:W3CDTF">2026-03-25T22:59:50Z</dcterms:modified>
</cp:coreProperties>
</file>